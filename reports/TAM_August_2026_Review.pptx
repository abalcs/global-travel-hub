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TAMs  |  vs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371600"/>
            <a:ext cx="1097280" cy="3200400"/>
          </a:xfrm>
          <a:prstGeom prst="rect">
            <a:avLst>
              <a:gd name="adj" fmla="val 8333"/>
            </a:avLst>
          </a:prstGeom>
          <a:solidFill>
            <a:srgbClr val="4D726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volume metrics vs July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172  ↓ -23%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Passthroughs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134  ↓ -22%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2024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136  ↓ -25%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2024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16  ↑ +6%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5176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E→P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77.9%  ↑ +0.9pp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743200"/>
            <a:ext cx="265176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91840" y="3246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P→Q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474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101.5%  ↓ -3.4pp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65176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126480" y="3246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E→B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474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9.3%  ↑ +3.6pp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Total Revenue  </a:t>
            </a:r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$821k</a:t>
            </a:r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   Jul: $411k  ↑ +100%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Stage-by-stage pipeline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 ↓ -23%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8046720" cy="320040"/>
          </a:xfrm>
          <a:prstGeom prst="rect">
            <a:avLst>
              <a:gd name="adj" fmla="val 22857"/>
            </a:avLst>
          </a:prstGeom>
          <a:solidFill>
            <a:srgbClr val="EDE8E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44752"/>
            <a:ext cx="6858000" cy="320040"/>
          </a:xfrm>
          <a:prstGeom prst="rect">
            <a:avLst>
              <a:gd name="adj" fmla="val 22857"/>
            </a:avLst>
          </a:prstGeom>
          <a:solidFill>
            <a:srgbClr val="4D726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Passthroughs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 ↓ -22%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046720" cy="320040"/>
          </a:xfrm>
          <a:prstGeom prst="rect">
            <a:avLst>
              <a:gd name="adj" fmla="val 22857"/>
            </a:avLst>
          </a:prstGeom>
          <a:solidFill>
            <a:srgbClr val="EDE8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59152"/>
            <a:ext cx="5403273" cy="320040"/>
          </a:xfrm>
          <a:prstGeom prst="rect">
            <a:avLst>
              <a:gd name="adj" fmla="val 22857"/>
            </a:avLst>
          </a:prstGeom>
          <a:solidFill>
            <a:srgbClr val="5D8A84"/>
          </a:solidFill>
          <a:ln/>
        </p:spPr>
      </p:sp>
      <p:sp>
        <p:nvSpPr>
          <p:cNvPr id="13" name="Text 11"/>
          <p:cNvSpPr/>
          <p:nvPr/>
        </p:nvSpPr>
        <p:spPr>
          <a:xfrm>
            <a:off x="5997633" y="23591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 ↓ -25%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8046720" cy="320040"/>
          </a:xfrm>
          <a:prstGeom prst="rect">
            <a:avLst>
              <a:gd name="adj" fmla="val 22857"/>
            </a:avLst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73552"/>
            <a:ext cx="5299364" cy="320040"/>
          </a:xfrm>
          <a:prstGeom prst="rect">
            <a:avLst>
              <a:gd name="adj" fmla="val 22857"/>
            </a:avLst>
          </a:prstGeom>
          <a:solidFill>
            <a:srgbClr val="007BC7"/>
          </a:solidFill>
          <a:ln/>
        </p:spPr>
      </p:sp>
      <p:sp>
        <p:nvSpPr>
          <p:cNvPr id="18" name="Text 16"/>
          <p:cNvSpPr/>
          <p:nvPr/>
        </p:nvSpPr>
        <p:spPr>
          <a:xfrm>
            <a:off x="5893724" y="32735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↑ +6%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8046720" cy="320040"/>
          </a:xfrm>
          <a:prstGeom prst="rect">
            <a:avLst>
              <a:gd name="adj" fmla="val 22857"/>
            </a:avLst>
          </a:prstGeom>
          <a:solidFill>
            <a:srgbClr val="EDE8E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187952"/>
            <a:ext cx="883227" cy="320040"/>
          </a:xfrm>
          <a:prstGeom prst="rect">
            <a:avLst>
              <a:gd name="adj" fmla="val 22857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477587" y="41879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38404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160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Avg Deal Value  </a:t>
            </a:r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$48k</a:t>
            </a:r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  Jul: $26k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114800"/>
            <a:ext cx="384048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4160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Total Deals  </a:t>
            </a:r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17</a:t>
            </a:r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  Jul: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Wins &amp;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achievements and month-over-month improvements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Growth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bookings vs 16 in July (↑ +6%)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E→B Conversion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improved from 9.3% to 12.9%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from $411k to $821k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Deal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deal value rose from $26k to $48k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Dow Led the Team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bookings and $323k in revenue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4114800" cy="685800"/>
          </a:xfrm>
          <a:prstGeom prst="rect">
            <a:avLst>
              <a:gd name="adj" fmla="val 10667"/>
            </a:avLst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Closer: Peadar Angelone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day avg cycle time across 2 deals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Accomplishments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leaderboard for August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91440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Bookings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Dow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bookings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2743200" cy="914400"/>
          </a:xfrm>
          <a:prstGeom prst="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Dow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$323k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743200" cy="91440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097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E→B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Adrianna Pappas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627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29.4%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731520"/>
                <a:gridCol w="731520"/>
                <a:gridCol w="731520"/>
                <a:gridCol w="137160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TAM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Enq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Qt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Bk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E→B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🥇 Grace Dow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$323k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14.9%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🥈 Adrianna Pappas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$281k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29.4%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🥉 Paige Zaferiou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$137k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7.7%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Peadar Angelone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$79k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6.9%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health and engagement breakdown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Partners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154  ↓ -21%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92024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116  ↓ -22%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92024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Bookings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10  ↓ -10%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192024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463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Jul: 38  ↓ -18%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607102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4302" y="2194560"/>
            <a:ext cx="5463915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216" y="2194560"/>
            <a:ext cx="67456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6595672" y="2194560"/>
            <a:ext cx="2091128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06040"/>
            <a:ext cx="182880" cy="182880"/>
          </a:xfrm>
          <a:prstGeom prst="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Booked: 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2606040"/>
            <a:ext cx="182880" cy="182880"/>
          </a:xfrm>
          <a:prstGeom prst="rect">
            <a:avLst>
              <a:gd name="adj" fmla="val 15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Quoting: 81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182880" cy="182880"/>
          </a:xfrm>
          <a:prstGeom prst="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Progressing: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2606040"/>
            <a:ext cx="182880" cy="182880"/>
          </a:xfrm>
          <a:prstGeom prst="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Stalled: 31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BOOKING PARTNERS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Amelia Adams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bk  |  $26k  |  Adrianna Pappas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Rimi Gill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bk  |  $12k  |  Adrianna Pappas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Bridget Lynch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bk  |  $39k  |  Grace Dow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Barbara Foster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bk  |  $41k  |  Grace Dow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Elizabeth Nugent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bk  |  $14k  |  Grace Dow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Destinations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destination performance by enquiry volume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94560"/>
                <a:gridCol w="731520"/>
                <a:gridCol w="731520"/>
                <a:gridCol w="731520"/>
                <a:gridCol w="731520"/>
                <a:gridCol w="109728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Destination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Enq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Qt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Bk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7A7A7A"/>
                          </a:solidFill>
                        </a:rPr>
                        <a:t>E→B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France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$14k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Japan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$163k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Italy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7A7A7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Africa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7A7A7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$13k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$194k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USA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$12k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Thailand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$55k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Portugal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$33k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726D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Australia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$41k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Opportunities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and pipeline focus areas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partners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potential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Sheri Simonson — 1 quotes (Grace Dow)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Meghan Sjostedt — 3 quotes (Grace Dow)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Robin Chalif — 2 quotes (Grace Dow)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84048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VELOCITY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cycle time (15 deals)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closers: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Peadar Angelone (9d, 2 deals)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Adrianna Pappas (11d, 3 deals)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Paige Zaferiou (23d, 3 deals)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2304288"/>
          </a:xfrm>
          <a:prstGeom prst="rect">
            <a:avLst>
              <a:gd name="adj" fmla="val 3968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RE-ENGAGE: 31 STALLED PARTNERS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Brooke Phillips  —  Adrianna Pappas  •  France  •  1 enq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 Grimaldo  —  Adrianna Pappas  •  Egypt  •  1 enq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056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 Byrne TA  —  Adrianna Pappas  •  France  •  1 enq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39826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Colleen Peterson  —  Adrianna Pappas  •  USA  •  1 enq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6908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Wolfe  —  Adrianna Pappas  •  Europe  •  1 enq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Lorri Balch  —  Grace Dow  •  Norway  •  1 enq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726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137160" cy="2743200"/>
          </a:xfrm>
          <a:prstGeom prst="rect">
            <a:avLst>
              <a:gd name="adj" fmla="val 33333"/>
            </a:avLst>
          </a:prstGeom>
          <a:solidFill>
            <a:srgbClr val="4D726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Game Plan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Re-engage 31 stalled partners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Convert 81 quoting partners to bookings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Target &lt;20d avg cycle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Push E→B rate above 14%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Discussion?  Ideas?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TAM Team August 2026 Monthly Review</dc:subject>
  <dc:creator>Global Travel Hub</dc:creator>
  <cp:lastModifiedBy>Global Travel Hub</cp:lastModifiedBy>
  <cp:revision>1</cp:revision>
  <dcterms:created xsi:type="dcterms:W3CDTF">2026-09-01T16:18:18Z</dcterms:created>
  <dcterms:modified xsi:type="dcterms:W3CDTF">2026-09-01T16:18:18Z</dcterms:modified>
</cp:coreProperties>
</file>